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0" r:id="rId6"/>
    <p:sldMasterId id="2147483652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8" roundtripDataSignature="AMtx7mhZjEasLoyX+thHweBxigDXZV+r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AC984B-8702-4F24-97E4-1C9957C96FAB}">
  <a:tblStyle styleId="{85AC984B-8702-4F24-97E4-1C9957C96F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7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11" Type="http://schemas.openxmlformats.org/officeDocument/2006/relationships/slideMaster" Target="slideMasters/slideMaster7.xml"/><Relationship Id="rId33" Type="http://schemas.openxmlformats.org/officeDocument/2006/relationships/slide" Target="slides/slide20.xml"/><Relationship Id="rId10" Type="http://schemas.openxmlformats.org/officeDocument/2006/relationships/slideMaster" Target="slideMasters/slideMaster6.xml"/><Relationship Id="rId32" Type="http://schemas.openxmlformats.org/officeDocument/2006/relationships/slide" Target="slides/slide19.xml"/><Relationship Id="rId13" Type="http://schemas.openxmlformats.org/officeDocument/2006/relationships/notesMaster" Target="notesMasters/notesMaster1.xml"/><Relationship Id="rId35" Type="http://schemas.openxmlformats.org/officeDocument/2006/relationships/slide" Target="slides/slide22.xml"/><Relationship Id="rId12" Type="http://schemas.openxmlformats.org/officeDocument/2006/relationships/slideMaster" Target="slideMasters/slideMaster8.xml"/><Relationship Id="rId34" Type="http://schemas.openxmlformats.org/officeDocument/2006/relationships/slide" Target="slides/slide21.xml"/><Relationship Id="rId15" Type="http://schemas.openxmlformats.org/officeDocument/2006/relationships/slide" Target="slides/slide2.xml"/><Relationship Id="rId37" Type="http://schemas.openxmlformats.org/officeDocument/2006/relationships/slide" Target="slides/slide24.xml"/><Relationship Id="rId14" Type="http://schemas.openxmlformats.org/officeDocument/2006/relationships/slide" Target="slides/slide1.xml"/><Relationship Id="rId36" Type="http://schemas.openxmlformats.org/officeDocument/2006/relationships/slide" Target="slides/slide23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38" Type="http://customschemas.google.com/relationships/presentationmetadata" Target="metadata"/><Relationship Id="rId19" Type="http://schemas.openxmlformats.org/officeDocument/2006/relationships/slide" Target="slides/slide6.xml"/><Relationship Id="rId18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p31"/>
          <p:cNvCxnSpPr/>
          <p:nvPr/>
        </p:nvCxnSpPr>
        <p:spPr>
          <a:xfrm>
            <a:off x="0" y="683288"/>
            <a:ext cx="6189785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" name="Google Shape;4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32"/>
          <p:cNvCxnSpPr/>
          <p:nvPr/>
        </p:nvCxnSpPr>
        <p:spPr>
          <a:xfrm>
            <a:off x="6002215" y="683288"/>
            <a:ext cx="6189785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" name="Google Shape;4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33"/>
          <p:cNvCxnSpPr/>
          <p:nvPr/>
        </p:nvCxnSpPr>
        <p:spPr>
          <a:xfrm>
            <a:off x="0" y="683288"/>
            <a:ext cx="121920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" name="Google Shape;4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/>
          <p:nvPr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5"/>
          <p:cNvSpPr/>
          <p:nvPr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6"/>
          <p:cNvSpPr/>
          <p:nvPr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4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6" Type="http://schemas.openxmlformats.org/officeDocument/2006/relationships/theme" Target="../theme/theme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8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0.xml"/><Relationship Id="rId4" Type="http://schemas.openxmlformats.org/officeDocument/2006/relationships/theme" Target="../theme/theme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2.xml"/><Relationship Id="rId5" Type="http://schemas.openxmlformats.org/officeDocument/2006/relationships/theme" Target="../theme/theme4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<Relationship Id="rId4" Type="http://schemas.openxmlformats.org/officeDocument/2006/relationships/theme" Target="../theme/theme5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/>
          <p:nvPr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d-ID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642" y="38924"/>
            <a:ext cx="1119282" cy="10864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5"/>
          <p:cNvSpPr txBox="1"/>
          <p:nvPr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d-ID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S1 TEKNIK INFORMATIKA</a:t>
            </a:r>
            <a:br>
              <a:rPr b="0" i="0" lang="id-ID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-ID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UNIVERSITAS PAMULANG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48352" y="0"/>
            <a:ext cx="2143648" cy="1205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5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5"/>
          <p:cNvSpPr/>
          <p:nvPr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255" y="6422940"/>
            <a:ext cx="453018" cy="4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42" y="6419057"/>
            <a:ext cx="380491" cy="38049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5"/>
          <p:cNvSpPr txBox="1"/>
          <p:nvPr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d-ID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InfoTI_unpam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5"/>
          <p:cNvSpPr txBox="1"/>
          <p:nvPr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informatika.unpam.ac.id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3996" y="6412026"/>
            <a:ext cx="648362" cy="4587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27"/>
          <p:cNvSpPr/>
          <p:nvPr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47255" y="6422940"/>
            <a:ext cx="453018" cy="4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642" y="6419057"/>
            <a:ext cx="380491" cy="38049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7"/>
          <p:cNvSpPr txBox="1"/>
          <p:nvPr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InfoTI_unpam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7"/>
          <p:cNvSpPr txBox="1"/>
          <p:nvPr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informatika.unpam.ac.id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3996" y="6412026"/>
            <a:ext cx="648362" cy="4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1590" y="6366986"/>
            <a:ext cx="512406" cy="4973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9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7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7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7"/>
          <p:cNvSpPr txBox="1"/>
          <p:nvPr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9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9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9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3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9"/>
          <p:cNvSpPr/>
          <p:nvPr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TERIMA KASIH, MAHASISWA TEKNIK INFORMATIKA UNGGUL, ANDA SUDAH BELAJAR DENGAN LUAR BIASA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57600" y="2057400"/>
            <a:ext cx="4876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1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1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1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1"/>
          <p:cNvSpPr/>
          <p:nvPr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TERIMA KASIH, MAHASISWA TEKNIK INFORMATIKA UNGGUL, ANDA SUDAH BELAJAR DENGAN LUAR BIASA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3"/>
          <p:cNvSpPr/>
          <p:nvPr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4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642" y="38924"/>
            <a:ext cx="1119282" cy="108649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3"/>
          <p:cNvSpPr txBox="1"/>
          <p:nvPr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S1 TEKNIK INFORMATIKA</a:t>
            </a:r>
            <a:b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UNIVERSITAS PAMULANG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48352" y="0"/>
            <a:ext cx="2143648" cy="120580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3"/>
          <p:cNvSpPr txBox="1"/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2" name="Google Shape;92;p43"/>
          <p:cNvSpPr txBox="1"/>
          <p:nvPr>
            <p:ph idx="1" type="body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4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5"/>
          <p:cNvSpPr/>
          <p:nvPr/>
        </p:nvSpPr>
        <p:spPr>
          <a:xfrm rot="-5400000">
            <a:off x="10209964" y="4875960"/>
            <a:ext cx="1884065" cy="2080010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5"/>
          <p:cNvSpPr/>
          <p:nvPr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5"/>
          <p:cNvSpPr/>
          <p:nvPr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9172" y="5725289"/>
            <a:ext cx="1042588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581" y="5864994"/>
            <a:ext cx="1403488" cy="99300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title"/>
          </p:nvPr>
        </p:nvSpPr>
        <p:spPr>
          <a:xfrm>
            <a:off x="838200" y="37029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BAB I  PENGENALAN PHP</a:t>
            </a:r>
            <a:br>
              <a:rPr b="1" lang="id-ID"/>
            </a:b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990600" y="18205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lgerian"/>
              <a:buNone/>
            </a:pPr>
            <a:r>
              <a:rPr b="1" lang="id-ID" sz="44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PEMROGRAMAN WEB 2</a:t>
            </a:r>
            <a:br>
              <a:rPr b="1" lang="id-ID" sz="44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</a:br>
            <a:endParaRPr sz="44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990600" y="1004547"/>
            <a:ext cx="10515600" cy="5151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571500" lvl="0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id-ID" sz="3600"/>
              <a:t>PHP singkatan dari </a:t>
            </a:r>
            <a:r>
              <a:rPr i="1" lang="id-ID" sz="3600"/>
              <a:t>Hypertext Preprocessor</a:t>
            </a:r>
            <a:br>
              <a:rPr i="1" lang="id-ID" sz="3600"/>
            </a:br>
            <a:r>
              <a:rPr lang="id-ID" sz="3600"/>
              <a:t>Yaitu bahasa berbentuk skrip yang ditempatkan dalam server dan diproses di server, hasilnya dikirim ke klien tempat pemakai menggunakan browser.  </a:t>
            </a:r>
            <a:br>
              <a:rPr lang="id-ID" sz="3600"/>
            </a:br>
            <a:br>
              <a:rPr lang="id-ID" sz="3600"/>
            </a:br>
            <a:r>
              <a:rPr lang="id-ID" sz="3600"/>
              <a:t>Ketika seseorang mengunjungi web berbasis PHP, web server akan memproses code-code PHP</a:t>
            </a:r>
            <a:br>
              <a:rPr lang="id-ID" sz="3600"/>
            </a:br>
            <a:r>
              <a:rPr lang="id-ID" sz="3600"/>
              <a:t>Beberapa perintah atau code dari PHP tersebut selanjutnya ada yang diterjemahkan ke dalam HTML dan beberapa ada yang disembunyikan (misalnya proses kalkulasi dan operasi).</a:t>
            </a:r>
            <a:endParaRPr sz="3600"/>
          </a:p>
        </p:txBody>
      </p:sp>
      <p:sp>
        <p:nvSpPr>
          <p:cNvPr id="115" name="Google Shape;115;p2"/>
          <p:cNvSpPr txBox="1"/>
          <p:nvPr/>
        </p:nvSpPr>
        <p:spPr>
          <a:xfrm>
            <a:off x="838200" y="195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1.1Pendahuluan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632138" y="1558345"/>
            <a:ext cx="10515600" cy="4134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571500" lvl="0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id-ID"/>
              <a:t>Setelah diterjemahkan ke dalam HTML, web server akan mengirim kembali ke web browser pengunjung tersebut. </a:t>
            </a:r>
            <a:br>
              <a:rPr lang="id-ID"/>
            </a:br>
            <a:br>
              <a:rPr lang="id-ID"/>
            </a:br>
            <a:r>
              <a:rPr lang="id-ID"/>
              <a:t>Secara khusus, PHP dirancang untuk membentuk web dinamis, artinya ia dapat membentuk suatu tampilan berdasarkan permintaan terkini.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990600" y="4531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Lanjutan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838200" y="5711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400"/>
              <a:t>1.2  Prinsip Kerja Server Side</a:t>
            </a:r>
            <a:br>
              <a:rPr lang="id-ID" sz="4400"/>
            </a:br>
            <a:endParaRPr sz="4400"/>
          </a:p>
        </p:txBody>
      </p:sp>
      <p:sp>
        <p:nvSpPr>
          <p:cNvPr id="127" name="Google Shape;127;p4"/>
          <p:cNvSpPr txBox="1"/>
          <p:nvPr/>
        </p:nvSpPr>
        <p:spPr>
          <a:xfrm>
            <a:off x="632138" y="1390918"/>
            <a:ext cx="10515600" cy="4481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10000"/>
          </a:bodyPr>
          <a:lstStyle/>
          <a:p>
            <a:pPr indent="-571500" lvl="0" marL="5715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 dikatakan sebagai sebuah </a:t>
            </a:r>
            <a:r>
              <a:rPr i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server-side embedded script language</a:t>
            </a: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artinya sintaks-sintaks dan perintah yang kita berikan akan sepenuhnya dijalankan oleh server tetapi disertakan pada halaman HTML biasa.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Aplikasi-aplikasi yang dibangun oleh PHP pada umumnya akan memberikan hasil pada web browser, tetapi prosesnya secara keseluruhan dijalankan di server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838200" y="264470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d-ID"/>
              <a:t>Pada prinsipnya server akan bekerja apabila ada permintaan dari client. Dalam hal ini client menggunakan kode-kode PHP untuk mengirimkan permintaan ke server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990600" y="4531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Lanjutan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type="title"/>
          </p:nvPr>
        </p:nvSpPr>
        <p:spPr>
          <a:xfrm>
            <a:off x="838200" y="2498514"/>
            <a:ext cx="10515600" cy="4365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id-ID" sz="3600"/>
              <a:t>Ketika menggunakan PHP sebagai server-side embedded script language maka server akan melakukan hal-hal sebagai berikut :</a:t>
            </a:r>
            <a:br>
              <a:rPr lang="id-ID" sz="3600"/>
            </a:br>
            <a:br>
              <a:rPr lang="id-ID" sz="3600"/>
            </a:br>
            <a:r>
              <a:rPr lang="id-ID" sz="3600"/>
              <a:t>1. Membaca permintaan dari client/browser.</a:t>
            </a:r>
            <a:br>
              <a:rPr lang="id-ID" sz="3600"/>
            </a:br>
            <a:r>
              <a:rPr lang="id-ID" sz="3600"/>
              <a:t>2. Mencari halaman/page di server.</a:t>
            </a:r>
            <a:br>
              <a:rPr lang="id-ID" sz="3600"/>
            </a:br>
            <a:r>
              <a:rPr lang="id-ID" sz="3600"/>
              <a:t>3. Melakukan instruksi yang diberikan oleh PHP untuk       	melakukan modifikasi pada halaman/page. </a:t>
            </a:r>
            <a:br>
              <a:rPr lang="id-ID" sz="3600"/>
            </a:br>
            <a:r>
              <a:rPr lang="id-ID" sz="3600"/>
              <a:t>4. Mengirim kembali halaman tersebut kepada client 	melalui internet atau intranet.</a:t>
            </a:r>
            <a:br>
              <a:rPr lang="id-ID" sz="3600"/>
            </a:br>
            <a:br>
              <a:rPr lang="id-ID" sz="3600"/>
            </a:br>
            <a:r>
              <a:rPr lang="id-ID" sz="3600"/>
              <a:t>	</a:t>
            </a:r>
            <a:br>
              <a:rPr lang="id-ID" sz="3600"/>
            </a:br>
            <a:br>
              <a:rPr lang="id-ID" sz="3600"/>
            </a:br>
            <a:endParaRPr sz="3600"/>
          </a:p>
        </p:txBody>
      </p:sp>
      <p:sp>
        <p:nvSpPr>
          <p:cNvPr id="139" name="Google Shape;139;p6"/>
          <p:cNvSpPr txBox="1"/>
          <p:nvPr/>
        </p:nvSpPr>
        <p:spPr>
          <a:xfrm>
            <a:off x="990600" y="337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Lanjutan Prinsip Kerja Server Side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Gambar Prinsip Kerja Server Side</a:t>
            </a:r>
            <a:br>
              <a:rPr b="1" lang="id-ID"/>
            </a:br>
            <a:endParaRPr b="1"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7737" y="1378039"/>
            <a:ext cx="10109914" cy="4391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Aplikasi Yang Diperlukan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231821" y="1582341"/>
            <a:ext cx="1074098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 dapat bekerja dengan PHP, berikut ini adalah beberapa aplikasi yang diperlukan: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Web server (Apache, IIS, Personal Web Server/PWS)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PHP Parser (dapat didownload di PHP.net)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Database server (MySQL, Interbase, MS SQL, dll)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Web Editor (Dreamweaver, Frontpage, dll)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400"/>
              <a:t>1.3 </a:t>
            </a:r>
            <a:r>
              <a:rPr b="1" lang="id-ID" sz="4400"/>
              <a:t>Struktur Penulisan PHP</a:t>
            </a:r>
            <a:endParaRPr sz="4400"/>
          </a:p>
        </p:txBody>
      </p:sp>
      <p:sp>
        <p:nvSpPr>
          <p:cNvPr id="157" name="Google Shape;157;p9"/>
          <p:cNvSpPr/>
          <p:nvPr/>
        </p:nvSpPr>
        <p:spPr>
          <a:xfrm>
            <a:off x="231821" y="1582341"/>
            <a:ext cx="1074098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 yang dapat digunakan untuk menyatakan script php adalah: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9"/>
          <p:cNvGraphicFramePr/>
          <p:nvPr/>
        </p:nvGraphicFramePr>
        <p:xfrm>
          <a:off x="838200" y="33742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{85AC984B-8702-4F24-97E4-1C9957C96FAB}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172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&lt;?php</a:t>
                      </a:r>
                      <a:endParaRPr sz="28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...</a:t>
                      </a:r>
                      <a:br>
                        <a:rPr lang="id-ID" sz="2800" u="none" cap="none" strike="noStrike"/>
                      </a:br>
                      <a:r>
                        <a:rPr lang="id-ID" sz="2800" u="none" cap="none" strike="noStrike"/>
                        <a:t>...</a:t>
                      </a:r>
                      <a:endParaRPr sz="28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?&gt;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&lt;?</a:t>
                      </a:r>
                      <a:endParaRPr sz="28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...</a:t>
                      </a:r>
                      <a:br>
                        <a:rPr lang="id-ID" sz="2800" u="none" cap="none" strike="noStrike"/>
                      </a:br>
                      <a:r>
                        <a:rPr lang="id-ID" sz="2800" u="none" cap="none" strike="noStrike"/>
                        <a:t>...</a:t>
                      </a:r>
                      <a:br>
                        <a:rPr lang="id-ID" sz="2800" u="none" cap="none" strike="noStrike"/>
                      </a:br>
                      <a:r>
                        <a:rPr lang="id-ID" sz="2800" u="none" cap="none" strike="noStrike"/>
                        <a:t>?&gt;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&lt;%</a:t>
                      </a:r>
                      <a:endParaRPr sz="28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...</a:t>
                      </a:r>
                      <a:br>
                        <a:rPr lang="id-ID" sz="2800" u="none" cap="none" strike="noStrike"/>
                      </a:br>
                      <a:r>
                        <a:rPr lang="id-ID" sz="2800" u="none" cap="none" strike="noStrike"/>
                        <a:t>...</a:t>
                      </a:r>
                      <a:endParaRPr sz="28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%&gt;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&lt;script language="PHP"&gt; </a:t>
                      </a:r>
                      <a:endParaRPr sz="28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800" u="none" cap="none" strike="noStrike"/>
                        <a:t>...</a:t>
                      </a:r>
                      <a:br>
                        <a:rPr lang="id-ID" sz="2800" u="none" cap="none" strike="noStrike"/>
                      </a:br>
                      <a:r>
                        <a:rPr lang="id-ID" sz="2800" u="none" cap="none" strike="noStrike"/>
                        <a:t>...&lt;/script&gt;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9525" marR="9525" marL="95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400"/>
              <a:t>1.3 </a:t>
            </a:r>
            <a:r>
              <a:rPr b="1" lang="id-ID" sz="4400"/>
              <a:t>Struktur Penulisan PHP</a:t>
            </a:r>
            <a:endParaRPr sz="4400"/>
          </a:p>
        </p:txBody>
      </p:sp>
      <p:sp>
        <p:nvSpPr>
          <p:cNvPr id="164" name="Google Shape;164;p10"/>
          <p:cNvSpPr/>
          <p:nvPr/>
        </p:nvSpPr>
        <p:spPr>
          <a:xfrm>
            <a:off x="476522" y="1440672"/>
            <a:ext cx="10740980" cy="5755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Diantara keempat ini tag pertama merupakan tag yang paling aman karena memberikan tanda yang lebih jelas dan pada umumnya dimengerti oleh web server.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Contoh HTML embeded PHP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&lt;TITLE&gt;PHP Embeded &lt;/TITLE&gt;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"&lt;B&gt;File PHP Pertama saya &lt;BR&gt; Ini PHP didalam HTML &lt;/B&gt;";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Penulisan Komentar</a:t>
            </a:r>
            <a:endParaRPr b="1" sz="4000"/>
          </a:p>
        </p:txBody>
      </p:sp>
      <p:sp>
        <p:nvSpPr>
          <p:cNvPr id="170" name="Google Shape;170;p11"/>
          <p:cNvSpPr/>
          <p:nvPr/>
        </p:nvSpPr>
        <p:spPr>
          <a:xfrm>
            <a:off x="476522" y="1440672"/>
            <a:ext cx="1074098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Komentar merupakan bagian program yang tidak akan dieksekusi.  Fungsi dari komentar ini adalah sebagai dokumentasi program atau berupa penjelasan dari program.   Penulisan komentar dalam PHP ada dua macam 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Komentar satu baris diawali dengan tanda </a:t>
            </a:r>
            <a:r>
              <a:rPr b="1"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Komentar lebih dari satu baris diawali dengan /* dan diakhiri dengan */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Contoh :Penulisan Komentar</a:t>
            </a:r>
            <a:endParaRPr b="1" sz="4000"/>
          </a:p>
        </p:txBody>
      </p:sp>
      <p:sp>
        <p:nvSpPr>
          <p:cNvPr id="176" name="Google Shape;176;p12"/>
          <p:cNvSpPr/>
          <p:nvPr/>
        </p:nvSpPr>
        <p:spPr>
          <a:xfrm>
            <a:off x="476522" y="1440672"/>
            <a:ext cx="1074098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"Kalimat ini tidak akan dicetak";</a:t>
            </a:r>
            <a:b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*/</a:t>
            </a:r>
            <a:b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</a:t>
            </a:r>
            <a:b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"Kalimat ini akan dicetak"; // Bagian ini hanya merupakan komentar</a:t>
            </a:r>
            <a:b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Variabel</a:t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>
            <a:off x="476522" y="1440672"/>
            <a:ext cx="1074098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Variabel dalam PHP dituliskan dengan diawali tanda $. 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Aturan penamaan variabel dalam PHP pada umumnya serupa dengan variabel pada umumnya, yaitu dengan aturan sbb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Nama variable bisa terdiri dari angka, huruf, dan underscore. 	Selain itu tidak boleh digunakan.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Huruf pertama nama variable tidak boleh berupa angka.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Lanjutan Variabel</a:t>
            </a:r>
            <a:endParaRPr b="1"/>
          </a:p>
        </p:txBody>
      </p:sp>
      <p:sp>
        <p:nvSpPr>
          <p:cNvPr id="188" name="Google Shape;188;p14"/>
          <p:cNvSpPr/>
          <p:nvPr/>
        </p:nvSpPr>
        <p:spPr>
          <a:xfrm>
            <a:off x="734102" y="1311882"/>
            <a:ext cx="10740980" cy="495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Pada PHP nama variable bersifat case-sensitive yaitu memperhatikan huruf besar dan kecil.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Contoh :</a:t>
            </a: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//penamaan berikut benar 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$nama = "wawan";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$test123 = "Test";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$_TEST = "Test";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$Test123 = "Test";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//penamaan yang salah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$1Huruf = "a saja"; //diawali dengan angka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$sw3ar-it = "Again"; //menggunakan karakter "-"</a:t>
            </a:r>
            <a:b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$Tom&amp;Jerry = "Kucing"; // menggunakan karakter "&amp;"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PHP memiliki 3 jenis scope variabel yaitu :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734102" y="1311882"/>
            <a:ext cx="107409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990600" y="1511938"/>
            <a:ext cx="10515600" cy="4412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Lokal Variable yaitu variabel yang hanya dapat digunakan di dalam fungsi</a:t>
            </a:r>
            <a:endParaRPr/>
          </a:p>
          <a:p>
            <a:pPr indent="-742950" lvl="0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variabel yaitu variabel yang dapat digunakan di luar dan di dalam  fungsi</a:t>
            </a:r>
            <a:endParaRPr/>
          </a:p>
          <a:p>
            <a:pPr indent="-742950" lvl="0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Variabel yaitu variabel yang hanya ada dalam lingkup lokal suatu fungsi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838200" y="197698"/>
            <a:ext cx="536941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Latihan 1 :</a:t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734102" y="1311882"/>
            <a:ext cx="107409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758778" y="1550575"/>
            <a:ext cx="10515600" cy="4412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 = 123 ; // variable global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Test() {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 = "Test"; // variable local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"Nilai A dalam fungsi = $A \n";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Test();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"Nilai A luar fungsi = $A \n";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6697016" y="610478"/>
            <a:ext cx="5280363" cy="286232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Jika dijalankan maka akan tercetak 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Nilai A dalam fungsi = "Test"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Nilai A luar fungsi = 123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type="title"/>
          </p:nvPr>
        </p:nvSpPr>
        <p:spPr>
          <a:xfrm>
            <a:off x="838200" y="197698"/>
            <a:ext cx="536941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/>
              <a:t>Latihan 2 :</a:t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734102" y="1311882"/>
            <a:ext cx="107409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758778" y="1550575"/>
            <a:ext cx="10515600" cy="4412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 = 123 ; // variable global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Test() {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$A ; // variable local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"Nilai A dalam fungsi = $A \n";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Test();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"Nilai A luar fungsi = $A \n";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6697016" y="610478"/>
            <a:ext cx="5280363" cy="2308324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Jika dijalankan maka akan tercetak 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Nilai A dalam fungsi = 123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Nilai A luar fungsi = 123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>
            <p:ph type="title"/>
          </p:nvPr>
        </p:nvSpPr>
        <p:spPr>
          <a:xfrm>
            <a:off x="838200" y="197698"/>
            <a:ext cx="536941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/>
              <a:t>Latihan 2 :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734102" y="1311882"/>
            <a:ext cx="107409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758778" y="1550575"/>
            <a:ext cx="10515600" cy="4412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 = 123 ; // variable global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Test() {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$A ; // variable local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"Nilai A dalam fungsi = $A \n";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Test();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"Nilai A luar fungsi = $A \n";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6697016" y="610478"/>
            <a:ext cx="5280363" cy="2308324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Jika dijalankan maka akan tercetak 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Nilai A dalam fungsi = 123</a:t>
            </a:r>
            <a:b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Nilai A luar fungsi = 123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Konstanta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734102" y="1311882"/>
            <a:ext cx="107409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990600" y="1511938"/>
            <a:ext cx="10515600" cy="4412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Konstanta mirip dengan variable. Bedanya nilai konstanta tidak pernah berubah sejak dideklarasikan.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 mendeklarasikan konstanta digunakan fungsi define().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1"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Sintak :</a:t>
            </a:r>
            <a:r>
              <a:rPr b="1"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define("nama_konstanta",nilai);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Latihan 3 :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734102" y="1311882"/>
            <a:ext cx="107409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990600" y="1511938"/>
            <a:ext cx="10515600" cy="4412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Define(“judul”, “Menghitung luas lingkaran”);</a:t>
            </a:r>
            <a:b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define("phi",3.14) ;</a:t>
            </a:r>
            <a:b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$r = 5;</a:t>
            </a:r>
            <a:b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$luas = phi * $r * $r 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judul;</a:t>
            </a:r>
            <a:b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"Luas = $luas" ;</a:t>
            </a:r>
            <a:b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Latihan 4 :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734102" y="1311882"/>
            <a:ext cx="107409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990600" y="1511938"/>
            <a:ext cx="6569299" cy="4412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Ini adalah komentar dalam satu baris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Kalau yang ini, komentar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dalam banyak baris, yang baru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akan selesai setelah diakhiri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dengan */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  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&lt;title&gt;Test Penyisipan PHP Pada HTML&lt;/title&gt;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id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Kapal Asing, Silakan identifikasikan diri Anda! &lt;br&gt; 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7224772" y="165064"/>
            <a:ext cx="4899993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Berikut ini adalah inisiasi beberapa variabel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$namad = "Jean";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$namat = "Luc";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$namab = "Piccard";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$nilai1=25;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$nilai2=50;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$hasil=$nilai1*$nilai2;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$a=2;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$b=3;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$hsl=pow($a,$b);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&lt;b&gt;Ini adalah kapal Federasi Planet USS Enterprise.&lt;br&gt;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&lt;?php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"Saya $namab, $namad $namat $namab, kapten kapal.&lt;/b&gt;&lt;br&gt;";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"$nilai1 x $nilai2 = $hasil&lt;br&gt;";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"$a ^ $b = $hsl";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 txBox="1"/>
          <p:nvPr>
            <p:ph type="title"/>
          </p:nvPr>
        </p:nvSpPr>
        <p:spPr>
          <a:xfrm>
            <a:off x="1023135" y="7658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6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7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2021-08-16T10:58:02Z</dcterms:created>
  <dc:creator>lisda masitoh</dc:creator>
</cp:coreProperties>
</file>