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6" r:id="rId8"/>
    <p:sldMasterId id="2147483658" r:id="rId9"/>
    <p:sldMasterId id="2147483660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7" roundtripDataSignature="AMtx7mhiVQ8qRDH+sz8mfmMBSXPSq7C+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9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7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8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/>
          <p:nvPr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642" y="38924"/>
            <a:ext cx="111928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6"/>
          <p:cNvSpPr txBox="1"/>
          <p:nvPr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48352" y="0"/>
            <a:ext cx="2143648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/>
          <p:nvPr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255" y="6422940"/>
            <a:ext cx="453018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42" y="6419057"/>
            <a:ext cx="380491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6"/>
          <p:cNvSpPr txBox="1"/>
          <p:nvPr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6"/>
          <p:cNvSpPr txBox="1"/>
          <p:nvPr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3996" y="6412026"/>
            <a:ext cx="648362" cy="4587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18"/>
          <p:cNvSpPr/>
          <p:nvPr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47255" y="6422940"/>
            <a:ext cx="453018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642" y="6419057"/>
            <a:ext cx="380491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8"/>
          <p:cNvSpPr txBox="1"/>
          <p:nvPr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8"/>
          <p:cNvSpPr txBox="1"/>
          <p:nvPr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3996" y="6412026"/>
            <a:ext cx="648362" cy="4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1590" y="6366986"/>
            <a:ext cx="512406" cy="4973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0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0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0"/>
          <p:cNvSpPr/>
          <p:nvPr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57600" y="2057400"/>
            <a:ext cx="4876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2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2"/>
          <p:cNvSpPr/>
          <p:nvPr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4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4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4"/>
          <p:cNvSpPr txBox="1"/>
          <p:nvPr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/>
          <p:nvPr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642" y="38924"/>
            <a:ext cx="111928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6"/>
          <p:cNvSpPr txBox="1"/>
          <p:nvPr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48352" y="0"/>
            <a:ext cx="2143648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6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8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8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8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title"/>
          </p:nvPr>
        </p:nvSpPr>
        <p:spPr>
          <a:xfrm>
            <a:off x="838200" y="37029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PERTEMUAN  4</a:t>
            </a:r>
            <a:br>
              <a:rPr lang="en-US"/>
            </a:br>
            <a:r>
              <a:rPr lang="en-US"/>
              <a:t>BAB III  STRUKTUR KONTROL LANJUTAN</a:t>
            </a:r>
            <a:endParaRPr b="1"/>
          </a:p>
        </p:txBody>
      </p:sp>
      <p:sp>
        <p:nvSpPr>
          <p:cNvPr id="81" name="Google Shape;81;p1"/>
          <p:cNvSpPr txBox="1"/>
          <p:nvPr/>
        </p:nvSpPr>
        <p:spPr>
          <a:xfrm>
            <a:off x="990600" y="18205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lgerian"/>
              <a:buNone/>
            </a:pPr>
            <a:r>
              <a:rPr b="1" lang="en-US" sz="44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PEMROGRAMAN WEB 2</a:t>
            </a:r>
            <a:br>
              <a:rPr b="1" lang="en-US" sz="44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</a:br>
            <a:endParaRPr sz="44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/>
          <p:nvPr>
            <p:ph type="title"/>
          </p:nvPr>
        </p:nvSpPr>
        <p:spPr>
          <a:xfrm>
            <a:off x="990600" y="1004548"/>
            <a:ext cx="6813997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A. </a:t>
            </a:r>
            <a:r>
              <a:rPr b="1" lang="en-US" sz="3200"/>
              <a:t>Pernyataan for</a:t>
            </a:r>
            <a:br>
              <a:rPr lang="en-US" sz="3200"/>
            </a:br>
            <a:r>
              <a:rPr lang="en-US" sz="3200"/>
              <a:t>Pernyataan </a:t>
            </a:r>
            <a:r>
              <a:rPr b="1" i="1" lang="en-US" sz="3200"/>
              <a:t>for</a:t>
            </a:r>
            <a:r>
              <a:rPr lang="en-US" sz="3200"/>
              <a:t> merupakan pernyataan yang berguna untuk menangani pengulangan proses. </a:t>
            </a:r>
            <a:br>
              <a:rPr lang="en-US" sz="3200"/>
            </a:br>
            <a:r>
              <a:rPr lang="en-US" sz="3200"/>
              <a:t> </a:t>
            </a:r>
            <a:br>
              <a:rPr lang="en-US" sz="3200"/>
            </a:br>
            <a:r>
              <a:rPr lang="en-US" sz="3200"/>
              <a:t>For (ekspr1; ekspr2; ekspr3)</a:t>
            </a:r>
            <a:br>
              <a:rPr lang="en-US" sz="3200"/>
            </a:br>
            <a:r>
              <a:rPr lang="en-US" sz="3200"/>
              <a:t>{</a:t>
            </a:r>
            <a:br>
              <a:rPr lang="en-US" sz="3200"/>
            </a:br>
            <a:r>
              <a:rPr lang="en-US" sz="3200"/>
              <a:t>	//</a:t>
            </a:r>
            <a:r>
              <a:rPr i="1" lang="en-US" sz="3200"/>
              <a:t>pernyataan</a:t>
            </a:r>
            <a:r>
              <a:rPr lang="en-US" sz="3200"/>
              <a:t> (kode yang dieksekusi)</a:t>
            </a:r>
            <a:br>
              <a:rPr lang="en-US" sz="3200"/>
            </a:br>
            <a:r>
              <a:rPr lang="en-US" sz="3200"/>
              <a:t>}</a:t>
            </a:r>
            <a:endParaRPr sz="3200"/>
          </a:p>
        </p:txBody>
      </p:sp>
      <p:sp>
        <p:nvSpPr>
          <p:cNvPr id="87" name="Google Shape;87;p2"/>
          <p:cNvSpPr txBox="1"/>
          <p:nvPr/>
        </p:nvSpPr>
        <p:spPr>
          <a:xfrm>
            <a:off x="838200" y="195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4.1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Struktur Perulangan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/>
        </p:nvSpPr>
        <p:spPr>
          <a:xfrm>
            <a:off x="838200" y="195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0201" y="1345162"/>
            <a:ext cx="4387404" cy="381926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 txBox="1"/>
          <p:nvPr/>
        </p:nvSpPr>
        <p:spPr>
          <a:xfrm>
            <a:off x="990600" y="1719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Pernyataan for . Lanjutan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46975" y="1628500"/>
            <a:ext cx="7688687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Ekspr1 adalah ekspresi untuk memberi nilai awal 	terhadap variabel yang akan digunakan untuk 	melakukan pencacahan pengulangan.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Ekspr2 berlaku sebagai kondisi untuk 	menentukan pengualangan terhadap 	pernyataan yang ada di dalam {}, apakah 	akan dilakukan atau tidak.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Ekspr3 digunakan untuk mengatur nilai variabel 	yang digunakan dalam ekspr1.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990600" y="1004548"/>
            <a:ext cx="6813997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Pernyataan </a:t>
            </a:r>
            <a:r>
              <a:rPr b="1" i="1" lang="en-US" sz="2800"/>
              <a:t>while</a:t>
            </a:r>
            <a:r>
              <a:rPr lang="en-US" sz="2800"/>
              <a:t> merupakan salah satu pernyataan yang berguna untuk melakukan pengulangan, berikut bentuk pernyataannya :</a:t>
            </a:r>
            <a:br>
              <a:rPr lang="en-US" sz="2800"/>
            </a:br>
            <a:r>
              <a:rPr lang="en-US" sz="2800"/>
              <a:t> </a:t>
            </a:r>
            <a:br>
              <a:rPr lang="en-US" sz="2800"/>
            </a:br>
            <a:r>
              <a:rPr lang="en-US" sz="2800"/>
              <a:t>while (ekspresi)</a:t>
            </a:r>
            <a:br>
              <a:rPr lang="en-US" sz="2800"/>
            </a:br>
            <a:r>
              <a:rPr lang="en-US" sz="2800"/>
              <a:t>{</a:t>
            </a:r>
            <a:br>
              <a:rPr lang="en-US" sz="2800"/>
            </a:br>
            <a:r>
              <a:rPr lang="en-US" sz="2800"/>
              <a:t>//</a:t>
            </a:r>
            <a:r>
              <a:rPr i="1" lang="en-US" sz="2800"/>
              <a:t>pernyataan</a:t>
            </a:r>
            <a:r>
              <a:rPr lang="en-US" sz="2800"/>
              <a:t> (kode yang dieksekusi)</a:t>
            </a:r>
            <a:br>
              <a:rPr lang="en-US" sz="2800"/>
            </a:br>
            <a:r>
              <a:rPr lang="en-US" sz="2800"/>
              <a:t>}</a:t>
            </a:r>
            <a:br>
              <a:rPr lang="en-US" sz="2800"/>
            </a:br>
            <a:r>
              <a:rPr lang="en-US" sz="2800"/>
              <a:t> </a:t>
            </a:r>
            <a:br>
              <a:rPr lang="en-US" sz="2800"/>
            </a:br>
            <a:r>
              <a:rPr lang="en-US" sz="2800"/>
              <a:t>while(kondisi) {</a:t>
            </a:r>
            <a:br>
              <a:rPr lang="en-US" sz="2800"/>
            </a:br>
            <a:r>
              <a:rPr lang="en-US" sz="2800"/>
              <a:t>operasi program ;</a:t>
            </a:r>
            <a:br>
              <a:rPr lang="en-US" sz="2800"/>
            </a:br>
            <a:r>
              <a:rPr lang="en-US" sz="2800"/>
              <a:t>}</a:t>
            </a:r>
            <a:endParaRPr sz="2800"/>
          </a:p>
        </p:txBody>
      </p:sp>
      <p:sp>
        <p:nvSpPr>
          <p:cNvPr id="101" name="Google Shape;101;p4"/>
          <p:cNvSpPr txBox="1"/>
          <p:nvPr/>
        </p:nvSpPr>
        <p:spPr>
          <a:xfrm>
            <a:off x="838200" y="195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Pernyataan while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/>
        </p:nvSpPr>
        <p:spPr>
          <a:xfrm>
            <a:off x="838200" y="195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990600" y="1719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Pernyataan While . Lanjutan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46976" y="1628500"/>
            <a:ext cx="650383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Pernyataan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akan memeriksa nilai ekspresi terlebih dahulu. Jika bernilai benar maka pernyataan-pernyataan yang terdapat dalam {} akan dijalankan dan kemudian ekspresi dievaluasi lagi. Proses ini diulang terus-menerus sampai ekspresi bernilai salah.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5508" y="1628500"/>
            <a:ext cx="4456090" cy="4128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990600" y="1004548"/>
            <a:ext cx="7174606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800"/>
              <a:t>Berbeda dengan loop sebelumnya, dimana for dan while pengecekan kondisi dilakukan pada awal sebelum blok kode dieksekusi. Pada do…while pengecekan dilakukan diakhir eksekusi kode. Jadi setidak-tidaknya blok kode do…while pasti dieksekusi minimal satu kali. Syntax dasar dari do…while adalah sebagai berikut.</a:t>
            </a:r>
            <a:br>
              <a:rPr lang="en-US" sz="2800"/>
            </a:br>
            <a:r>
              <a:rPr lang="en-US" sz="2800"/>
              <a:t> </a:t>
            </a:r>
            <a:br>
              <a:rPr lang="en-US" sz="2800"/>
            </a:br>
            <a:r>
              <a:rPr lang="en-US" sz="2800"/>
              <a:t>do {</a:t>
            </a:r>
            <a:br>
              <a:rPr lang="en-US" sz="2800"/>
            </a:br>
            <a:r>
              <a:rPr lang="en-US" sz="2800"/>
              <a:t>// kode yang dieksekusi</a:t>
            </a:r>
            <a:br>
              <a:rPr lang="en-US" sz="2800"/>
            </a:br>
            <a:r>
              <a:rPr lang="en-US" sz="2800"/>
              <a:t>} while (kondisi)</a:t>
            </a:r>
            <a:br>
              <a:rPr lang="en-US" sz="2800"/>
            </a:br>
            <a:r>
              <a:rPr lang="en-US" sz="2800"/>
              <a:t> </a:t>
            </a:r>
            <a:br>
              <a:rPr lang="en-US" sz="2800"/>
            </a:br>
            <a:r>
              <a:rPr lang="en-US" sz="2800"/>
              <a:t>Blok kode do akan dieksekusi selama kondisi while masih bernilai true</a:t>
            </a:r>
            <a:endParaRPr sz="2800"/>
          </a:p>
        </p:txBody>
      </p:sp>
      <p:sp>
        <p:nvSpPr>
          <p:cNvPr id="115" name="Google Shape;115;p6"/>
          <p:cNvSpPr txBox="1"/>
          <p:nvPr/>
        </p:nvSpPr>
        <p:spPr>
          <a:xfrm>
            <a:off x="838200" y="195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Pernyataan do…while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6430" y="1455313"/>
            <a:ext cx="4066832" cy="3384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990600" y="1004548"/>
            <a:ext cx="7174606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foreach ($</a:t>
            </a:r>
            <a:r>
              <a:rPr i="1" lang="en-US" sz="3200"/>
              <a:t>array </a:t>
            </a:r>
            <a:r>
              <a:rPr lang="en-US" sz="3200"/>
              <a:t>as</a:t>
            </a:r>
            <a:r>
              <a:rPr i="1" lang="en-US" sz="3200"/>
              <a:t> </a:t>
            </a:r>
            <a:r>
              <a:rPr lang="en-US" sz="3200"/>
              <a:t>$</a:t>
            </a:r>
            <a:r>
              <a:rPr i="1" lang="en-US" sz="3200"/>
              <a:t>value</a:t>
            </a:r>
            <a:r>
              <a:rPr lang="en-US" sz="3200"/>
              <a:t>)</a:t>
            </a:r>
            <a:br>
              <a:rPr lang="en-US" sz="3200"/>
            </a:br>
            <a:r>
              <a:rPr lang="en-US" sz="3200"/>
              <a:t>  {</a:t>
            </a:r>
            <a:br>
              <a:rPr lang="en-US" sz="3200"/>
            </a:br>
            <a:r>
              <a:rPr lang="en-US" sz="3200"/>
              <a:t>  operasi program;</a:t>
            </a:r>
            <a:br>
              <a:rPr lang="en-US" sz="3200"/>
            </a:br>
            <a:r>
              <a:rPr lang="en-US" sz="3200"/>
              <a:t>  }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838200" y="195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For Each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990600" y="1004548"/>
            <a:ext cx="7174606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&lt;?php</a:t>
            </a:r>
            <a:br>
              <a:rPr lang="en-US" sz="2400"/>
            </a:br>
            <a:r>
              <a:rPr lang="en-US" sz="2400"/>
              <a:t>$brush_price = 5; </a:t>
            </a:r>
            <a:br>
              <a:rPr lang="en-US" sz="2400"/>
            </a:br>
            <a:r>
              <a:rPr lang="en-US" sz="2400"/>
              <a:t>$counter = 10;</a:t>
            </a:r>
            <a:br>
              <a:rPr lang="en-US" sz="2400"/>
            </a:br>
            <a:r>
              <a:rPr lang="en-US" sz="2400"/>
              <a:t> </a:t>
            </a:r>
            <a:br>
              <a:rPr lang="en-US" sz="2400"/>
            </a:br>
            <a:r>
              <a:rPr lang="en-US" sz="2400"/>
              <a:t>echo "&lt;table border=\"1\" align=\"center\"&gt;";</a:t>
            </a:r>
            <a:br>
              <a:rPr lang="en-US" sz="2400"/>
            </a:br>
            <a:r>
              <a:rPr lang="en-US" sz="2400"/>
              <a:t>echo "&lt;tr&gt;&lt;th&gt;Quantity&lt;/th&gt;";</a:t>
            </a:r>
            <a:br>
              <a:rPr lang="en-US" sz="2400"/>
            </a:br>
            <a:r>
              <a:rPr lang="en-US" sz="2400"/>
              <a:t>echo "&lt;th&gt;Price&lt;/th&gt;&lt;/tr&gt;";</a:t>
            </a:r>
            <a:br>
              <a:rPr lang="en-US" sz="2400"/>
            </a:br>
            <a:r>
              <a:rPr lang="en-US" sz="2400"/>
              <a:t>while ( $counter &lt;= 100 ) {</a:t>
            </a:r>
            <a:br>
              <a:rPr lang="en-US" sz="2400"/>
            </a:br>
            <a:r>
              <a:rPr lang="en-US" sz="2400"/>
              <a:t>	echo "&lt;tr&gt;&lt;td&gt;";</a:t>
            </a:r>
            <a:br>
              <a:rPr lang="en-US" sz="2400"/>
            </a:br>
            <a:r>
              <a:rPr lang="en-US" sz="2400"/>
              <a:t>	echo $counter;</a:t>
            </a:r>
            <a:br>
              <a:rPr lang="en-US" sz="2400"/>
            </a:br>
            <a:r>
              <a:rPr lang="en-US" sz="2400"/>
              <a:t>	echo "&lt;/td&gt;&lt;td&gt;";</a:t>
            </a:r>
            <a:br>
              <a:rPr lang="en-US" sz="2400"/>
            </a:br>
            <a:r>
              <a:rPr lang="en-US" sz="2400"/>
              <a:t>	echo $brush_price * $counter;</a:t>
            </a:r>
            <a:br>
              <a:rPr lang="en-US" sz="2400"/>
            </a:br>
            <a:r>
              <a:rPr lang="en-US" sz="2400"/>
              <a:t>	echo "&lt;/td&gt;&lt;/tr&gt;";</a:t>
            </a:r>
            <a:br>
              <a:rPr lang="en-US" sz="2400"/>
            </a:br>
            <a:r>
              <a:rPr lang="en-US" sz="2400"/>
              <a:t>	$counter = $counter + 10;</a:t>
            </a:r>
            <a:br>
              <a:rPr lang="en-US" sz="2400"/>
            </a:br>
            <a:r>
              <a:rPr lang="en-US" sz="2400"/>
              <a:t>}</a:t>
            </a:r>
            <a:br>
              <a:rPr lang="en-US" sz="2400"/>
            </a:br>
            <a:r>
              <a:rPr lang="en-US" sz="2400"/>
              <a:t>echo "&lt;/table&gt;";</a:t>
            </a:r>
            <a:br>
              <a:rPr lang="en-US" sz="2400"/>
            </a:br>
            <a:r>
              <a:rPr lang="en-US" sz="2400"/>
              <a:t>?&gt;</a:t>
            </a:r>
            <a:endParaRPr sz="2400"/>
          </a:p>
        </p:txBody>
      </p:sp>
      <p:sp>
        <p:nvSpPr>
          <p:cNvPr id="128" name="Google Shape;128;p8"/>
          <p:cNvSpPr txBox="1"/>
          <p:nvPr/>
        </p:nvSpPr>
        <p:spPr>
          <a:xfrm>
            <a:off x="838200" y="-3023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Latihan 1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990600" y="1004548"/>
            <a:ext cx="7174606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&lt;?php</a:t>
            </a:r>
            <a:br>
              <a:rPr lang="en-US" sz="2400"/>
            </a:br>
            <a:r>
              <a:rPr lang="en-US" sz="2400"/>
              <a:t>$i = 0;</a:t>
            </a:r>
            <a:br>
              <a:rPr lang="en-US" sz="2400"/>
            </a:br>
            <a:r>
              <a:rPr lang="en-US" sz="2400"/>
              <a:t>echo 'This code will run at least once because i default value is 0.&lt;br&gt;';</a:t>
            </a:r>
            <a:br>
              <a:rPr lang="en-US" sz="2400"/>
            </a:br>
            <a:r>
              <a:rPr lang="en-US" sz="2400"/>
              <a:t>do {</a:t>
            </a:r>
            <a:br>
              <a:rPr lang="en-US" sz="2400"/>
            </a:br>
            <a:r>
              <a:rPr lang="en-US" sz="2400"/>
              <a:t>echo 'i value is ' . $i . ', so code block will run. &lt;br&gt;';</a:t>
            </a:r>
            <a:br>
              <a:rPr lang="en-US" sz="2400"/>
            </a:br>
            <a:r>
              <a:rPr lang="en-US" sz="2400"/>
              <a:t>++$i;</a:t>
            </a:r>
            <a:br>
              <a:rPr lang="en-US" sz="2400"/>
            </a:br>
            <a:r>
              <a:rPr lang="en-US" sz="2400"/>
              <a:t>} while ($i &lt; 10);</a:t>
            </a:r>
            <a:br>
              <a:rPr lang="en-US" sz="2400"/>
            </a:br>
            <a:r>
              <a:rPr lang="en-US" sz="2400"/>
              <a:t>?&gt;</a:t>
            </a:r>
            <a:endParaRPr sz="2400"/>
          </a:p>
        </p:txBody>
      </p:sp>
      <p:sp>
        <p:nvSpPr>
          <p:cNvPr id="134" name="Google Shape;134;p9"/>
          <p:cNvSpPr txBox="1"/>
          <p:nvPr/>
        </p:nvSpPr>
        <p:spPr>
          <a:xfrm>
            <a:off x="838200" y="-3023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Latihan 2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990600" y="1004548"/>
            <a:ext cx="7174606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&lt;html&gt;</a:t>
            </a:r>
            <a:br>
              <a:rPr lang="en-US" sz="2400"/>
            </a:br>
            <a:r>
              <a:rPr lang="en-US" sz="2400"/>
              <a:t>&lt;head&gt;</a:t>
            </a:r>
            <a:br>
              <a:rPr lang="en-US" sz="2400"/>
            </a:br>
            <a:r>
              <a:rPr lang="en-US" sz="2400"/>
              <a:t>&lt;title&gt;Penggunaan For&lt;/title&gt;</a:t>
            </a:r>
            <a:br>
              <a:rPr lang="en-US" sz="2400"/>
            </a:br>
            <a:r>
              <a:rPr lang="en-US" sz="2400"/>
              <a:t>&lt;/head&gt;</a:t>
            </a:r>
            <a:br>
              <a:rPr lang="en-US" sz="2400"/>
            </a:br>
            <a:r>
              <a:rPr lang="en-US" sz="2400"/>
              <a:t>&lt;body&gt;</a:t>
            </a:r>
            <a:br>
              <a:rPr lang="en-US" sz="2400"/>
            </a:br>
            <a:r>
              <a:rPr lang="en-US" sz="2400"/>
              <a:t>&lt;?Php</a:t>
            </a:r>
            <a:br>
              <a:rPr lang="en-US" sz="2400"/>
            </a:br>
            <a:r>
              <a:rPr lang="en-US" sz="2400"/>
              <a:t>   For ($bil = 1; $bil &lt;25; $bil++)</a:t>
            </a:r>
            <a:br>
              <a:rPr lang="en-US" sz="2400"/>
            </a:br>
            <a:r>
              <a:rPr lang="en-US" sz="2400"/>
              <a:t>      Print("$bil &lt;br&gt;\n");</a:t>
            </a:r>
            <a:br>
              <a:rPr lang="en-US" sz="2400"/>
            </a:br>
            <a:r>
              <a:rPr lang="en-US" sz="2400"/>
              <a:t> ?&gt;</a:t>
            </a:r>
            <a:br>
              <a:rPr lang="en-US" sz="2400"/>
            </a:br>
            <a:r>
              <a:rPr lang="en-US" sz="2400"/>
              <a:t>&lt;/body&gt;</a:t>
            </a:r>
            <a:br>
              <a:rPr lang="en-US" sz="2400"/>
            </a:br>
            <a:r>
              <a:rPr lang="en-US" sz="2400"/>
              <a:t>&lt;/html&gt;</a:t>
            </a:r>
            <a:endParaRPr sz="2400"/>
          </a:p>
        </p:txBody>
      </p:sp>
      <p:sp>
        <p:nvSpPr>
          <p:cNvPr id="140" name="Google Shape;140;p10"/>
          <p:cNvSpPr txBox="1"/>
          <p:nvPr/>
        </p:nvSpPr>
        <p:spPr>
          <a:xfrm>
            <a:off x="838200" y="-3023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Latihan 3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990600" y="1004548"/>
            <a:ext cx="7174606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&lt;?php</a:t>
            </a:r>
            <a:br>
              <a:rPr lang="en-US" sz="2800"/>
            </a:br>
            <a:r>
              <a:rPr lang="en-US" sz="2800"/>
              <a:t>for($i = 1 ;$i &lt; 11 ;$i++) {</a:t>
            </a:r>
            <a:br>
              <a:rPr lang="en-US" sz="2800"/>
            </a:br>
            <a:r>
              <a:rPr lang="en-US" sz="2800"/>
              <a:t>if ($i % 2 == 0 ) continue ;</a:t>
            </a:r>
            <a:br>
              <a:rPr lang="en-US" sz="2800"/>
            </a:br>
            <a:r>
              <a:rPr lang="en-US" sz="2800"/>
              <a:t>else echo $i ;</a:t>
            </a:r>
            <a:br>
              <a:rPr lang="en-US" sz="2800"/>
            </a:br>
            <a:r>
              <a:rPr lang="en-US" sz="2800"/>
              <a:t>}</a:t>
            </a:r>
            <a:br>
              <a:rPr lang="en-US" sz="2800"/>
            </a:br>
            <a:r>
              <a:rPr lang="en-US" sz="2800"/>
              <a:t>?&gt;</a:t>
            </a:r>
            <a:endParaRPr sz="2800"/>
          </a:p>
        </p:txBody>
      </p:sp>
      <p:sp>
        <p:nvSpPr>
          <p:cNvPr id="146" name="Google Shape;146;p11"/>
          <p:cNvSpPr txBox="1"/>
          <p:nvPr/>
        </p:nvSpPr>
        <p:spPr>
          <a:xfrm>
            <a:off x="838200" y="-3023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Latihan 4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990600" y="1004548"/>
            <a:ext cx="7174606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&lt;?php</a:t>
            </a:r>
            <a:br>
              <a:rPr lang="en-US" sz="2800"/>
            </a:br>
            <a:r>
              <a:rPr lang="en-US" sz="2800"/>
              <a:t>$arr=array("senin", "selasa", "rabu");</a:t>
            </a:r>
            <a:br>
              <a:rPr lang="en-US" sz="2800"/>
            </a:br>
            <a:r>
              <a:rPr lang="en-US" sz="2800"/>
              <a:t>foreach ($arr as $hari){</a:t>
            </a:r>
            <a:br>
              <a:rPr lang="en-US" sz="2800"/>
            </a:br>
            <a:r>
              <a:rPr lang="en-US" sz="2800"/>
              <a:t>echo "Hari: " . $hari . "&lt;br&gt;";</a:t>
            </a:r>
            <a:br>
              <a:rPr lang="en-US" sz="2800"/>
            </a:br>
            <a:r>
              <a:rPr lang="en-US" sz="2800"/>
              <a:t>}</a:t>
            </a:r>
            <a:br>
              <a:rPr lang="en-US" sz="2800"/>
            </a:br>
            <a:r>
              <a:rPr lang="en-US" sz="2800"/>
              <a:t>?&gt;</a:t>
            </a:r>
            <a:endParaRPr sz="2800"/>
          </a:p>
        </p:txBody>
      </p:sp>
      <p:sp>
        <p:nvSpPr>
          <p:cNvPr id="152" name="Google Shape;152;p12"/>
          <p:cNvSpPr txBox="1"/>
          <p:nvPr/>
        </p:nvSpPr>
        <p:spPr>
          <a:xfrm>
            <a:off x="838200" y="-3023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Latihan 5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990600" y="1004548"/>
            <a:ext cx="6208690" cy="495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Dari latihan diatas apa perbedaan perintah break dan continue</a:t>
            </a:r>
            <a:br>
              <a:rPr lang="en-US" sz="2800"/>
            </a:br>
            <a:br>
              <a:rPr lang="en-US" sz="2800"/>
            </a:br>
            <a:br>
              <a:rPr lang="en-US" sz="2800"/>
            </a:br>
            <a:r>
              <a:rPr lang="en-US" sz="2800"/>
              <a:t>Dengan menggunakan perintah looping buatlah tabel perkalian, misalnya dengan tampilan sebagai berikut :</a:t>
            </a:r>
            <a:endParaRPr/>
          </a:p>
        </p:txBody>
      </p:sp>
      <p:sp>
        <p:nvSpPr>
          <p:cNvPr id="158" name="Google Shape;158;p13"/>
          <p:cNvSpPr txBox="1"/>
          <p:nvPr/>
        </p:nvSpPr>
        <p:spPr>
          <a:xfrm>
            <a:off x="838200" y="-3023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Latihan 5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3"/>
          <p:cNvPicPr preferRelativeResize="0"/>
          <p:nvPr/>
        </p:nvPicPr>
        <p:blipFill rotWithShape="1">
          <a:blip r:embed="rId3">
            <a:alphaModFix/>
          </a:blip>
          <a:srcRect b="15152" l="19645" r="52964" t="8081"/>
          <a:stretch/>
        </p:blipFill>
        <p:spPr>
          <a:xfrm>
            <a:off x="8418691" y="1023187"/>
            <a:ext cx="3249568" cy="4662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1023135" y="7658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6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7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2021-08-16T10:58:02Z</dcterms:created>
  <dc:creator>lisda masitoh</dc:creator>
</cp:coreProperties>
</file>